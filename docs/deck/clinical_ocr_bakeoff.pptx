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here is public data or synthetic; no PHI. All models run locally on 2x RTX 4090.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Framed around replacing the incumbent; cost target $0.01/page is the commercial-layout-OCR price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Roster spans 0.26B -&gt; 27B. Licences matter: Chandra is research-only; Qwen3.8 terms unverified.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Synthetic content, real degradation pipeline, MIT. This is where every model was first ranked.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651 pages, $0.60 total to label. The historical 1878 scans are the only independently-labelled subset.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methodological point is why several earlier 'findings' were withdrawn; median + runaway count is the stable 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clean pages Tesseract is competitive; the case for replacement is entirely the degraded 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checked boxes (Frustrated, Backpack, Hitting, Pushing, ...) are read correctly as text glyphs. The model returns the whole form as Table regions; it does not emit one box per checkbox.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key new capability: bboxes + categories + HTML tables, with most selection glyphs preserved.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Tension worth flagging: geometry and control-state came from disjoint sets of models until the dots layout 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whole point: can a cheap 3B/7B student inherit a big teacher's domain accuracy from unlabelled scans?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n=1 per point; the non-monotonic 7B result deserves a repeat before it goes in a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was tonight's standout: 0.0206 median, statistically tied with the 27B, at 7B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ranking we care about holds at the top; the mid-pack reshuffles and one model breaks outright.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shortlisted model is 4-10x under the $0.01/page commercial price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two-model story: a general VLM for text values, dots.mocr for structure, both cheap.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honest limits; the benchmark is strong on text fidelity, weaker on structure association so far.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202020"/>
                </a:solidFill>
              </a:rPr>
              <a:t>Open-source document OCR for clinical scans</a:t>
            </a:r>
          </a:p>
          <a:p>
            <a:r>
              <a:rPr sz="2000">
                <a:solidFill>
                  <a:srgbClr val="1F77B4"/>
                </a:solidFill>
              </a:rPr>
              <a:t>A model bake-off, distillation study, and layout/bbox evaluation</a:t>
            </a:r>
          </a:p>
          <a:p>
            <a:r>
              <a:rPr sz="1400">
                <a:solidFill>
                  <a:srgbClr val="606060"/>
                </a:solidFill>
              </a:rPr>
              <a:t>328 synthetic clinical scans + 651 real medical scans  ·  2× RTX 4090  ·  all local, no PHI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02020"/>
                </a:solidFill>
              </a:rPr>
              <a:t>The question</a:t>
            </a:r>
          </a:p>
          <a:p>
            <a:r>
              <a:rPr sz="1300">
                <a:solidFill>
                  <a:srgbClr val="606060"/>
                </a:solidFill>
              </a:rPr>
              <a:t>What should replace Tesseract / commercial layout-OCR for scanned clinical documents?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11274552" cy="381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• Scanned referrals, lab panels, discharge summaries, faxes — degraded, rotated, handwritten, tabular.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• Need: (1) the values (MRNs, dates, lab decimals, meds) AND (2) the structure (tables, reading order, selection controls).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• Constraint: cheap enough to run at document volume — target &lt; $0.01 / page.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• Open-weight VLMs now exist that do full-page transcription in one pass. Do any of them actually work here?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02020"/>
                </a:solidFill>
              </a:rPr>
              <a:t>The models</a:t>
            </a:r>
          </a:p>
          <a:p>
            <a:r>
              <a:rPr sz="1300">
                <a:solidFill>
                  <a:srgbClr val="606060"/>
                </a:solidFill>
              </a:rPr>
              <a:t>12 open-weight OCR / document VLMs, one incumbent, comparable sizes and licences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11274552" cy="381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1124712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2743200"/>
                <a:gridCol w="3931920"/>
              </a:tblGrid>
              <a:tr h="32004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params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licence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020"/>
                          </a:solidFill>
                        </a:rPr>
                        <a:t>Qwen3.8-27B-FP8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020"/>
                          </a:solidFill>
                        </a:rPr>
                        <a:t>27B (FP8)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020"/>
                          </a:solidFill>
                        </a:rPr>
                        <a:t>verify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020"/>
                          </a:solidFill>
                        </a:rPr>
                        <a:t>Qwen2.5-VL-7B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020"/>
                          </a:solidFill>
                        </a:rPr>
                        <a:t>7B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020"/>
                          </a:solidFill>
                        </a:rPr>
                        <a:t>Apache-2.0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020"/>
                          </a:solidFill>
                        </a:rPr>
                        <a:t>Qwen2.5-VL-3B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020"/>
                          </a:solidFill>
                        </a:rPr>
                        <a:t>3B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020"/>
                          </a:solidFill>
                        </a:rPr>
                        <a:t>Apache-2.0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020"/>
                          </a:solidFill>
                        </a:rPr>
                        <a:t>dots.mocr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020"/>
                          </a:solidFill>
                        </a:rPr>
                        <a:t>3B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020"/>
                          </a:solidFill>
                        </a:rPr>
                        <a:t>MIT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020"/>
                          </a:solidFill>
                        </a:rPr>
                        <a:t>dots.ocr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020"/>
                          </a:solidFill>
                        </a:rPr>
                        <a:t>3B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020"/>
                          </a:solidFill>
                        </a:rPr>
                        <a:t>MIT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020"/>
                          </a:solidFill>
                        </a:rPr>
                        <a:t>olmOCR-2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020"/>
                          </a:solidFill>
                        </a:rPr>
                        <a:t>8B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020"/>
                          </a:solidFill>
                        </a:rPr>
                        <a:t>Apache-2.0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020"/>
                          </a:solidFill>
                        </a:rPr>
                        <a:t>PaddleOCR-VL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020"/>
                          </a:solidFill>
                        </a:rPr>
                        <a:t>0.9B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020"/>
                          </a:solidFill>
                        </a:rPr>
                        <a:t>Apache-2.0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020"/>
                          </a:solidFill>
                        </a:rPr>
                        <a:t>DeepSeek-OCR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020"/>
                          </a:solidFill>
                        </a:rPr>
                        <a:t>3B MoE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020"/>
                          </a:solidFill>
                        </a:rPr>
                        <a:t>MIT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020"/>
                          </a:solidFill>
                        </a:rPr>
                        <a:t>Chandra OCR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020"/>
                          </a:solidFill>
                        </a:rPr>
                        <a:t>5B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020"/>
                          </a:solidFill>
                        </a:rPr>
                        <a:t>OpenRAIL-M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020"/>
                          </a:solidFill>
                        </a:rPr>
                        <a:t>granite-docling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020"/>
                          </a:solidFill>
                        </a:rPr>
                        <a:t>0.26B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020"/>
                          </a:solidFill>
                        </a:rPr>
                        <a:t>Apache-2.0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020"/>
                          </a:solidFill>
                        </a:rPr>
                        <a:t>Nanonets-OCR2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020"/>
                          </a:solidFill>
                        </a:rPr>
                        <a:t>3B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020"/>
                          </a:solidFill>
                        </a:rPr>
                        <a:t>Apache-2.0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020"/>
                          </a:solidFill>
                        </a:rPr>
                        <a:t>Tesseract v5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020"/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020"/>
                          </a:solidFill>
                        </a:rPr>
                        <a:t>Apache-2.0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02020"/>
                </a:solidFill>
              </a:rPr>
              <a:t>Corpus 1 — ClinOCR-Bench (the baseline)</a:t>
            </a:r>
          </a:p>
          <a:p>
            <a:r>
              <a:rPr sz="1300">
                <a:solidFill>
                  <a:srgbClr val="606060"/>
                </a:solidFill>
              </a:rPr>
              <a:t>328 documents · 6 degradation subsets · human-audited ground truth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11274552" cy="381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ormal_t1_s2_in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2973873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458967"/>
            <a:ext cx="5669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F77B4"/>
                </a:solidFill>
              </a:rPr>
              <a:t>normal</a:t>
            </a:r>
          </a:p>
        </p:txBody>
      </p:sp>
      <p:pic>
        <p:nvPicPr>
          <p:cNvPr id="6" name="Picture 5" descr="handwriting_t1_s2_inp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234440"/>
            <a:ext cx="2973873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5458967"/>
            <a:ext cx="5669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F77B4"/>
                </a:solidFill>
              </a:rPr>
              <a:t>handwriting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76072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02020"/>
                </a:solidFill>
              </a:rPr>
              <a:t>• subsets: normal · handwriting · poor · rotated · tables · mixed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02020"/>
                </a:solidFill>
              </a:rPr>
              <a:t>• (shown: clean + handwriting; the tables subset is actually filled forms)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02020"/>
                </a:solidFill>
              </a:rPr>
              <a:t>Corpus 2 — medreal (real scans)</a:t>
            </a:r>
          </a:p>
          <a:p>
            <a:r>
              <a:rPr sz="1300">
                <a:solidFill>
                  <a:srgbClr val="606060"/>
                </a:solidFill>
              </a:rPr>
              <a:t>651 pages assembled from public medical-document datasets, labelled by a vision LLM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11274552" cy="381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112471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371600"/>
                <a:gridCol w="7132320"/>
              </a:tblGrid>
              <a:tr h="32004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pages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what it is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noisy-med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patient account statements, full page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prescription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200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prescription scans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india-hist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real 1878 hospital reports (external GT)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medform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medical forms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20624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</a:rPr>
              <a:t>• Labels minted with DeepSeek-v4.1-flash (vision) at $0.0009/page — the same prompt used in training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</a:rPr>
              <a:t>• Caveat: new-set ground truth is the teacher label, so it measures agreement, not human-verified accuracy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</a:rPr>
              <a:t>• Cheap generalisation check: a different pipeline, real scanners, non-English names/addresses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02020"/>
                </a:solidFill>
              </a:rPr>
              <a:t>How we measure</a:t>
            </a:r>
          </a:p>
          <a:p>
            <a:r>
              <a:rPr sz="1300">
                <a:solidFill>
                  <a:srgbClr val="606060"/>
                </a:solidFill>
              </a:rPr>
              <a:t>Character error rate, with the pitfalls accounted for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11274552" cy="381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• Primary metric: median CER (character error rate) vs ground truth — lower is better.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• Mean CER is NOT stable: a few unreadable pages loop into repeated text and pin at the CER cap of 2.0.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606060"/>
                </a:solidFill>
              </a:rPr>
              <a:t>–  The runaway tail carries ~half the error and varies run to run — so we rank on median, and report runaways.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• Also measured: field-token recall/precision (dates, MRNs, decimals, codes), failure taxonomy, throughput, cost.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• Noise floor measured from n=5 identical repeats: median CER ±0.003, mean CER ±0.023.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606060"/>
                </a:solidFill>
              </a:rPr>
              <a:t>–  Any difference smaller than that is not a finding.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02020"/>
                </a:solidFill>
              </a:rPr>
              <a:t>Results — ClinOCR-Bench (328 docs)</a:t>
            </a:r>
          </a:p>
          <a:p>
            <a:r>
              <a:rPr sz="1300">
                <a:solidFill>
                  <a:srgbClr val="606060"/>
                </a:solidFill>
              </a:rPr>
              <a:t>median CER; Tesseract baseline dashed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11274552" cy="381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_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7373722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1463040"/>
            <a:ext cx="4572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</a:rPr>
              <a:t>• Every VLM beats Tesseract on degraded scans (0.02–0.10 vs 0.444).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</a:rPr>
              <a:t>• Qwen3.8-27B is a tier above everything (0.0224) and leads field recall (0.91).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</a:rPr>
              <a:t>• dots.mocr / Qwen7B / olmOCR-2 cluster at ~0.05–0.08 — cheap and strong.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</a:rPr>
              <a:t>• Chandra/granite/DeepSeek/Nanonets are not usable here.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02020"/>
                </a:solidFill>
              </a:rPr>
              <a:t>Selection controls + bounding boxes</a:t>
            </a:r>
          </a:p>
          <a:p>
            <a:r>
              <a:rPr sz="1300">
                <a:solidFill>
                  <a:srgbClr val="606060"/>
                </a:solidFill>
              </a:rPr>
              <a:t>dots.mocr, native layout prompt — regions with bbox + category, form read as HTML tables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11274552" cy="381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ables_t16_s2_in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3555718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36207"/>
            <a:ext cx="5669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F77B4"/>
                </a:solidFill>
              </a:rPr>
              <a:t>input (a filled behaviour form)</a:t>
            </a:r>
          </a:p>
        </p:txBody>
      </p:sp>
      <p:pic>
        <p:nvPicPr>
          <p:cNvPr id="6" name="Picture 5" descr="tables_t16_s2_b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88720"/>
            <a:ext cx="3555718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6236207"/>
            <a:ext cx="5669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F77B4"/>
                </a:solidFill>
              </a:rPr>
              <a:t>dots.mocr regions (bbox + category)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02020"/>
                </a:solidFill>
              </a:rPr>
              <a:t>Layout prompt: geometry + structure + controls</a:t>
            </a:r>
          </a:p>
          <a:p>
            <a:r>
              <a:rPr sz="1300">
                <a:solidFill>
                  <a:srgbClr val="606060"/>
                </a:solidFill>
              </a:rPr>
              <a:t>same model, dedicated prompt asking for JSON regions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11274552" cy="381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377440"/>
                <a:gridCol w="2194560"/>
                <a:gridCol w="2103120"/>
                <a:gridCol w="1828800"/>
              </a:tblGrid>
              <a:tr h="32004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run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bbox coverage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tables as HTML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text CER (median)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checked-box recall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</a:rPr>
                        <a:t>dots.mocr (plain)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</a:rPr>
                        <a:t>partial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</a:rPr>
                        <a:t>0.0747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</a:rPr>
                        <a:t>0.65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</a:rPr>
                        <a:t>dots.mocr (layout)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</a:rPr>
                        <a:t>100% (7091)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</a:rPr>
                        <a:t>242 / 242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</a:rPr>
                        <a:t>0.0274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</a:rPr>
                        <a:t>0.70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</a:rPr>
                        <a:t>dots.ocr (layout)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</a:rPr>
                        <a:t>100% (6788)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</a:rPr>
                        <a:t>242 / 242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</a:rPr>
                        <a:t>0.0211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</a:rPr>
                        <a:t>0.70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93192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</a:rPr>
              <a:t>• → 100% of elements carry [x1,y1,x2,y2] + a category (Text, Section-header, Table, …).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</a:rPr>
              <a:t>• → Every table returned as parsed HTML; text accuracy improves sharply vs the plain prompt.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</a:rPr>
              <a:t>• Caveat: ~0.70 of checked boxes captured, and the standalone-X 'Yes/No' forms are still missed (~0.0–0.10).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</a:rPr>
              <a:t>• Open item: does the geometry keep each check attached to the right field? Needs a structured-control scorer.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02020"/>
                </a:solidFill>
              </a:rPr>
              <a:t>Do models capture selection controls?</a:t>
            </a:r>
          </a:p>
          <a:p>
            <a:r>
              <a:rPr sz="1300">
                <a:solidFill>
                  <a:srgbClr val="606060"/>
                </a:solidFill>
              </a:rPr>
              <a:t>recall of checked marks (☑/☒) on the form subset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11274552" cy="381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1828800"/>
                <a:gridCol w="3840480"/>
                <a:gridCol w="1737360"/>
              </a:tblGrid>
              <a:tr h="32004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checked-box recall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checked-box recall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Qwen2.5-VL-7B + 1 exemplar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dots.ocr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0.33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Qwen3.8-27B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0.82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Qwen2.5-VL-3B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0.24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olmOCR-2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0.77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PaddleOCR-VL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0.03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dots.mocr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0.65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Chandra / granite / DeepSeek / Tesseract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0.00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3832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</a:rPr>
              <a:t>• Several open models reliably read ☑ vs ☐ as text — but as glyphs, not structured {control, state} fields.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</a:rPr>
              <a:t>• The models that emit coordinates (chandra, granite) capture none of the controls; the ones that capture controls mostly emit no coordinates.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</a:rPr>
              <a:t>• dots.mocr's layout prompt is the only run that gives both (see previous slide).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02020"/>
                </a:solidFill>
              </a:rPr>
              <a:t>Training — distillation of a small student</a:t>
            </a:r>
          </a:p>
          <a:p>
            <a:r>
              <a:rPr sz="1300">
                <a:solidFill>
                  <a:srgbClr val="606060"/>
                </a:solidFill>
              </a:rPr>
              <a:t>LoRA on synthetic degraded clinical docs; teacher = Qwen3.8-27B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11274552" cy="381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• Method: LoRA adapters (r=16, α=32, dropout 0.05) on frozen Qwen2.5-VL base — NOT full fine-tuning.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• Targets q/k/v/o/gate/up/down (7 projections, incl. vision tower): 37M trainable on 3B (0.98%), 48M on 7B (0.57%).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• 1 epoch, lr 1e-4 cosine, grad-accum 8, bf16, images capped at 802,816 px.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• Labels: either exact synthetic GT, or a teacher's transcript of unlabelled scans (no ground truth needed).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• 10 adapters trained: 4× (label-source study), 5× (corpus-size sweep), 1× (old+new mixed).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02020"/>
                </a:solidFill>
              </a:rPr>
              <a:t>Training result — does more data help?</a:t>
            </a:r>
          </a:p>
          <a:p>
            <a:r>
              <a:rPr sz="1300">
                <a:solidFill>
                  <a:srgbClr val="606060"/>
                </a:solidFill>
              </a:rPr>
              <a:t>same teacher, same recipe, corpus size varied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11274552" cy="381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6776185" cy="4023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23760" y="1463040"/>
            <a:ext cx="46634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</a:rPr>
              <a:t>• 3B: flat at/below the untuned base from 800→4800 docs → capacity limit, not data limit.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</a:rPr>
              <a:t>• 7B: 800 docs cuts median 0.072 → 0.045 (a real win); 2400 regresses to 0.062.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</a:rPr>
              <a:t>• Distillation helps the 7B, not the 3B; and more data is not monotonically better.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</a:rPr>
              <a:t>• Fine-tuning also raises runaway generation — a production caveat.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02020"/>
                </a:solidFill>
              </a:rPr>
              <a:t>Cheaper alternative to fine-tuning: 1-shot exemplar</a:t>
            </a:r>
          </a:p>
          <a:p>
            <a:r>
              <a:rPr sz="1300">
                <a:solidFill>
                  <a:srgbClr val="606060"/>
                </a:solidFill>
              </a:rPr>
              <a:t>prepend one clean exemplar of the same form template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11274552" cy="381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0"/>
                <a:gridCol w="2651760"/>
                <a:gridCol w="2651760"/>
              </a:tblGrid>
              <a:tr h="32004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approach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median CER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cost / page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</a:rPr>
                        <a:t>Qwen2.5-VL-7B (zero-shot)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</a:rPr>
                        <a:t>0.0513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</a:rPr>
                        <a:t>$0.0021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</a:rPr>
                        <a:t>Qwen2.5-VL-7B + 1 homogeneous exemplar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</a:rPr>
                        <a:t>0.0206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</a:rPr>
                        <a:t>$0.0024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</a:rPr>
                        <a:t>Qwen3.8-27B (teacher)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</a:rPr>
                        <a:t>0.0224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</a:rPr>
                        <a:t>$0.0084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47472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</a:rPr>
              <a:t>• One clean exemplar brings the 7B to ~27B accuracy on median CER — at ~1/4 the cost.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</a:rPr>
              <a:t>• No training required; the exemplar is a prompt-time addition.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</a:rPr>
              <a:t>• Trade-off: extra input tokens per request; distillation bakes the same benefit into the weights.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02020"/>
                </a:solidFill>
              </a:rPr>
              <a:t>Generalisation — synthetic vs real scans</a:t>
            </a:r>
          </a:p>
          <a:p>
            <a:r>
              <a:rPr sz="1300">
                <a:solidFill>
                  <a:srgbClr val="606060"/>
                </a:solidFill>
              </a:rPr>
              <a:t>every model re-run on the 651-page real corpus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11274552" cy="381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_old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9079393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534924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02020"/>
                </a:solidFill>
              </a:rPr>
              <a:t>• Top of the ranking survives: Qwen3.8-27B (0.080) then Qwen2.5-VL-7B (0.113) on real scans too.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02020"/>
                </a:solidFill>
              </a:rPr>
              <a:t>• Absolute error roughly doubles on real scans; real pages are harder but trigger fewer loops.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02020"/>
                </a:solidFill>
              </a:rPr>
              <a:t>• dots.ocr collapses on real statements (median 2.0; 341/400 pages loop).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02020"/>
                </a:solidFill>
              </a:rPr>
              <a:t>• granite-docling improves (0.87→0.32) but stays weak; PaddleOCR-VL degrades.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02020"/>
                </a:solidFill>
              </a:rPr>
              <a:t>Cost — all viable models clear $0.01/page</a:t>
            </a:r>
          </a:p>
          <a:p>
            <a:r>
              <a:rPr sz="1300">
                <a:solidFill>
                  <a:srgbClr val="606060"/>
                </a:solidFill>
              </a:rPr>
              <a:t>at $4 / GPU-hour, you need only 0.111 pages/s per GPU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11274552" cy="381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2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/>
                <a:gridCol w="2011680"/>
                <a:gridCol w="2011680"/>
                <a:gridCol w="2103120"/>
              </a:tblGrid>
              <a:tr h="320039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model (1 GPU unless noted)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pages/s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$ / page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median CER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Qwen2.5-VL-3B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1.06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$0.0010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0.0649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dots.mocr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0.67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$0.0017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0.0747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Qwen2.5-VL-7B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0.54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$0.0021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0.0513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Qwen2.5-VL-7B + 1-shot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0.46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$0.0024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0.0206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Qwen3.8-27B (2 GPUs, TP=2)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0.26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$0.0084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0.0224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8404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</a:rPr>
              <a:t>• Cost is not the binding constraint — accuracy and structure are.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</a:rPr>
              <a:t>• Compute only; excludes retries/escalation. Real metric is $ / acceptable page.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</a:rPr>
              <a:t>• 27B is under the line but with little headroom; int4 would roughly halve 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02020"/>
                </a:solidFill>
              </a:rPr>
              <a:t>What we'd recommend</a:t>
            </a:r>
          </a:p>
          <a:p>
            <a:r>
              <a:rPr sz="1300">
                <a:solidFill>
                  <a:srgbClr val="606060"/>
                </a:solidFill>
              </a:rPr>
              <a:t>for document intelligence: values +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11274552" cy="381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• Primary: Qwen2.5-VL-7B (+1 exemplar) — near-27B accuracy at ~$0.002/page, no training needed.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• Structure/geometry: dots.mocr with its layout prompt — bboxes + categories + HTML tables + most selection glyphs.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• Ceiling: Qwen3.8-27B — best values (field recall 0.91) and fewest runaways; still &lt; $0.01/page.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• Avoid as primary: PaddleOCR-VL, granite-docling, DeepSeek-OCR, Nanonets (values/runaways).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• Distillation: helps the 7B at ~800 docs; the 3B is capacity-limited. Fine-tuning is not a free win.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02020"/>
                </a:solidFill>
              </a:rPr>
              <a:t>Caveats &amp; next tests</a:t>
            </a:r>
          </a:p>
          <a:p>
            <a:r>
              <a:rPr sz="1300">
                <a:solidFill>
                  <a:srgbClr val="606060"/>
                </a:solidFill>
              </a:rPr>
              <a:t>what to verify before committing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11274552" cy="381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• Selection-control association is unproven — we score glyph presence, not whether the check stays bound to the correct field.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• New-set ground truth is teacher-labelled (circular for the distilled model); only the 1878 scans have independent GT.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• n=1 per training point and a small form sample — repeat before quoting.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• Next: structured selection-control scorer; run the layout prompt on real filled forms; extend to real faxes at volume.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